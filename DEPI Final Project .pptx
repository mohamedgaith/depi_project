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69" r:id="rId3"/>
    <p:sldId id="270" r:id="rId4"/>
    <p:sldId id="262" r:id="rId5"/>
    <p:sldId id="261" r:id="rId6"/>
    <p:sldId id="264" r:id="rId7"/>
    <p:sldId id="260" r:id="rId8"/>
    <p:sldId id="266" r:id="rId9"/>
    <p:sldId id="265" r:id="rId10"/>
    <p:sldId id="259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7E0DF654-59BF-1F2D-F06F-EE561FFD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2DE9878F-3756-C10E-7DD5-5ED196E5C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980BE4DD-DD7E-69BE-66C2-9CD4A06C9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4393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097E4373-6E99-4D16-7689-EEDF575D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443657DA-C621-9F63-ADB1-D42BB9602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D3DABD9E-BB92-EA1A-35BC-321274B8A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9368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8493530-11CC-9D38-2E22-B7613EA0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F32399F3-6730-3E4F-3660-28B1E9110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4D8839E1-D7EB-4FD1-E048-831D48FCE0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0346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3071D518-7773-3857-7AE5-E74E7271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5DF23342-5362-F2D6-45A7-076FD76B53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1C13A4DD-C0F1-A7FE-156E-87875155BE06}"/>
              </a:ext>
            </a:extLst>
          </p:cNvPr>
          <p:cNvSpPr txBox="1"/>
          <p:nvPr/>
        </p:nvSpPr>
        <p:spPr>
          <a:xfrm>
            <a:off x="838200" y="2312362"/>
            <a:ext cx="13298714" cy="2233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>
              <a:lnSpc>
                <a:spcPct val="90000"/>
              </a:lnSpc>
              <a:spcBef>
                <a:spcPts val="1000"/>
              </a:spcBef>
              <a:buSzPts val="2800"/>
            </a:pPr>
            <a:r>
              <a:rPr lang="ar-EG" sz="2800" b="1" dirty="0"/>
              <a:t> </a:t>
            </a:r>
            <a:r>
              <a:rPr lang="en-US" sz="2800" b="1" dirty="0"/>
              <a:t>       </a:t>
            </a:r>
            <a:r>
              <a:rPr lang="ar-EG" sz="2800" b="1" dirty="0"/>
              <a:t> </a:t>
            </a:r>
            <a:r>
              <a:rPr lang="en-US" sz="3600" b="1" dirty="0" err="1"/>
              <a:t>Cottonil</a:t>
            </a:r>
            <a:r>
              <a:rPr lang="en-US" sz="3600" b="1" dirty="0"/>
              <a:t> Data Driven Decision System</a:t>
            </a:r>
            <a:r>
              <a:rPr kumimoji="0" lang="ar-EG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                 </a:t>
            </a:r>
            <a:endParaRPr lang="en-US" sz="3600" b="1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>
              <a:lnSpc>
                <a:spcPct val="90000"/>
              </a:lnSpc>
              <a:spcBef>
                <a:spcPts val="1000"/>
              </a:spcBef>
              <a:buSzPts val="2800"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                      By Mohammed Alaa </a:t>
            </a:r>
          </a:p>
          <a:p>
            <a:pPr marL="228600" lvl="0" indent="-50800">
              <a:lnSpc>
                <a:spcPct val="90000"/>
              </a:lnSpc>
              <a:spcBef>
                <a:spcPts val="1000"/>
              </a:spcBef>
              <a:buSzPts val="2800"/>
            </a:pPr>
            <a:r>
              <a:rPr lang="en-US" sz="3600" dirty="0"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kumimoji="0" lang="ar-EG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 title="download.png">
            <a:extLst>
              <a:ext uri="{FF2B5EF4-FFF2-40B4-BE49-F238E27FC236}">
                <a16:creationId xmlns:a16="http://schemas.microsoft.com/office/drawing/2014/main" id="{B78A9AEB-9632-3EBB-CB9C-9FEA184CA6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322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7F2D5EE-84C8-BFD8-E92B-4532F3DF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ED715497-4C13-E4C2-8902-4D982E5CA4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 title="download.png">
            <a:extLst>
              <a:ext uri="{FF2B5EF4-FFF2-40B4-BE49-F238E27FC236}">
                <a16:creationId xmlns:a16="http://schemas.microsoft.com/office/drawing/2014/main" id="{9FAF0EBF-FC53-4799-FF59-D6B6F1DC54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83AE4C-7474-C917-8604-B2DB7CFA0394}"/>
              </a:ext>
            </a:extLst>
          </p:cNvPr>
          <p:cNvSpPr txBox="1"/>
          <p:nvPr/>
        </p:nvSpPr>
        <p:spPr>
          <a:xfrm>
            <a:off x="527154" y="1668707"/>
            <a:ext cx="1113769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Cottonil</a:t>
            </a:r>
            <a:r>
              <a:rPr lang="en-US" sz="2400" b="1" dirty="0"/>
              <a:t> Business Intelligence Dashboards: Executive Summary </a:t>
            </a:r>
          </a:p>
          <a:p>
            <a:pPr marL="342900" indent="-342900">
              <a:buAutoNum type="arabicPeriod"/>
            </a:pPr>
            <a:r>
              <a:rPr lang="en-US" sz="2000" b="1" dirty="0"/>
              <a:t>Project Idea and Solution </a:t>
            </a:r>
            <a:r>
              <a:rPr lang="en-US" sz="2000" dirty="0"/>
              <a:t>The project’s core idea is to establish an integrated Business Intelligence (BI) system for </a:t>
            </a:r>
            <a:r>
              <a:rPr lang="en-US" sz="2000" dirty="0" err="1"/>
              <a:t>Cottonil</a:t>
            </a:r>
            <a:r>
              <a:rPr lang="en-US" sz="2000" dirty="0"/>
              <a:t>, translating raw operational data into actionable visual insights. The solution provides three interactive dashboards covering Sales &amp; Profit Analytics and Purchases Analytics. This empowers management to make rapid, data-driven decisions by monitoring key performance indicators (KPIs) like Net Sales, Total Orders, Profit Margins, and Inventory/Purchasing effectiveness across various product categories.</a:t>
            </a:r>
          </a:p>
          <a:p>
            <a:pPr marL="342900" indent="-342900">
              <a:buAutoNum type="arabicPeriod"/>
            </a:pPr>
            <a:r>
              <a:rPr lang="en-US" sz="2000" b="1" dirty="0"/>
              <a:t>What makes this project stand out </a:t>
            </a:r>
            <a:r>
              <a:rPr lang="en-US" sz="2000" dirty="0"/>
              <a:t>is its strong technical data engineering, where unstructured HTML data was extracted and transformed into structured Excel files using Python. It also provides comprehensive end-to-end analysis, connecting sales, profits, and purchasing to highlight product-level performance. Additionally, the dashboards feature a professional, modern design with rich filters for flexible and user friendly exploration.</a:t>
            </a:r>
          </a:p>
        </p:txBody>
      </p:sp>
    </p:spTree>
    <p:extLst>
      <p:ext uri="{BB962C8B-B14F-4D97-AF65-F5344CB8AC3E}">
        <p14:creationId xmlns:p14="http://schemas.microsoft.com/office/powerpoint/2010/main" val="220969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7E964AC-F9DB-A712-AD2C-DCDC70D7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E7EACABB-1EFB-EA7E-A58D-4B2CE4477A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 title="download.png">
            <a:extLst>
              <a:ext uri="{FF2B5EF4-FFF2-40B4-BE49-F238E27FC236}">
                <a16:creationId xmlns:a16="http://schemas.microsoft.com/office/drawing/2014/main" id="{770FF81F-39BF-CFC4-FC61-631D2FA077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B5884-FEDF-6F4D-F610-4E27970F612B}"/>
              </a:ext>
            </a:extLst>
          </p:cNvPr>
          <p:cNvSpPr txBox="1"/>
          <p:nvPr/>
        </p:nvSpPr>
        <p:spPr>
          <a:xfrm>
            <a:off x="1037012" y="1259175"/>
            <a:ext cx="995971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Project Beneficiaries and Key Features </a:t>
            </a:r>
          </a:p>
          <a:p>
            <a:pPr marL="342900" indent="-342900">
              <a:buAutoNum type="arabicPeriod"/>
            </a:pPr>
            <a:r>
              <a:rPr lang="en-US" sz="1600" b="1" dirty="0"/>
              <a:t>Target Users (Beneficiaries) </a:t>
            </a:r>
          </a:p>
          <a:p>
            <a:r>
              <a:rPr lang="en-US" dirty="0"/>
              <a:t>    The Project cater to several key organizational roles: </a:t>
            </a:r>
          </a:p>
          <a:p>
            <a:r>
              <a:rPr lang="en-US" dirty="0"/>
              <a:t>• Executive Management: Focused on overall profitability, market share, and high-level performance metrics.</a:t>
            </a:r>
          </a:p>
          <a:p>
            <a:r>
              <a:rPr lang="en-US" dirty="0"/>
              <a:t>• Sales &amp; Marketing Managers: Concerned with product performance, order trends, and effective sales periods.</a:t>
            </a:r>
          </a:p>
          <a:p>
            <a:r>
              <a:rPr lang="en-US" dirty="0"/>
              <a:t>• Purchasing &amp; Supply Chain Managers: Focused on procurement costs, supplier efficiency, and inventory volumes.                                          • Financial Analysts: Interested in net profit margins, cost analysis, and the correlation between sales and purchasing. </a:t>
            </a:r>
          </a:p>
          <a:p>
            <a:r>
              <a:rPr lang="en-US" sz="1600" b="1" dirty="0"/>
              <a:t>2.   Key Features and Problems Solved </a:t>
            </a:r>
          </a:p>
          <a:p>
            <a:r>
              <a:rPr lang="en-US" dirty="0"/>
              <a:t>    The dashboard features solve critical business challenges:</a:t>
            </a:r>
          </a:p>
          <a:p>
            <a:r>
              <a:rPr lang="en-US" dirty="0"/>
              <a:t> • Top-Line KPIs ($3.17M Net Sales): Problem Solved: Eliminates the need for manual reports to assess the company's financial health. Provides immediate performance assessment for Executives.</a:t>
            </a:r>
          </a:p>
          <a:p>
            <a:r>
              <a:rPr lang="en-US" dirty="0"/>
              <a:t> • Trend Charts (Sales &amp; Profit by Month): Problem Solved: Identifies crucial seasonality and unexpected spikes or dips. Helps Sales Managers forecast accurately and optimize marketing timing.</a:t>
            </a:r>
          </a:p>
          <a:p>
            <a:r>
              <a:rPr lang="en-US" dirty="0"/>
              <a:t> • Product-Level Analytics (Sales/Purchases by Item): Problem Solved: Addresses the lack of visibility into which specific products are most profitable or costly. Guides production and inventory decisions by highlighting best-performing items.</a:t>
            </a:r>
          </a:p>
          <a:p>
            <a:r>
              <a:rPr lang="en-US" dirty="0"/>
              <a:t> • Interactive Filters (Month, Quarter, Item, Vendor): Problem Solved: Reduces reliance on analysts for every specific query. Enables Self-Service Analysis across all departments for quick, detailed answers.</a:t>
            </a:r>
          </a:p>
          <a:p>
            <a:r>
              <a:rPr lang="en-US" dirty="0"/>
              <a:t> • Supplier Performance Data (Purchases Dashboard): Problem Solved: Resolves difficulty in evaluating vendors based on actual performance and cost-efficiency. Optimizes the supply chain for Purchasing Managers.</a:t>
            </a:r>
          </a:p>
        </p:txBody>
      </p:sp>
    </p:spTree>
    <p:extLst>
      <p:ext uri="{BB962C8B-B14F-4D97-AF65-F5344CB8AC3E}">
        <p14:creationId xmlns:p14="http://schemas.microsoft.com/office/powerpoint/2010/main" val="417312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1615778" y="644498"/>
            <a:ext cx="8960444" cy="887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en-US" b="1" dirty="0"/>
              <a:t>Data Architecture &amp; Technical Workflow</a:t>
            </a:r>
            <a:br>
              <a:rPr lang="en-US" b="1" dirty="0"/>
            </a:br>
            <a:endParaRPr dirty="0"/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>
          <a:blip r:embed="rId3"/>
          <a:srcRect l="16903" r="16903"/>
          <a:stretch/>
        </p:blipFill>
        <p:spPr>
          <a:xfrm>
            <a:off x="442620" y="1532197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175" name="Google Shape;175;p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E3AA21-18D5-2FDD-F729-81F0008806EB}"/>
              </a:ext>
            </a:extLst>
          </p:cNvPr>
          <p:cNvSpPr txBox="1"/>
          <p:nvPr/>
        </p:nvSpPr>
        <p:spPr>
          <a:xfrm>
            <a:off x="4800672" y="1532197"/>
            <a:ext cx="70715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b="1" dirty="0"/>
              <a:t>1. </a:t>
            </a:r>
            <a:r>
              <a:rPr lang="en-US" sz="1600" b="1" dirty="0"/>
              <a:t>Data Source &amp; ETL Process</a:t>
            </a:r>
          </a:p>
          <a:p>
            <a:r>
              <a:rPr lang="en-US" dirty="0"/>
              <a:t>Source</a:t>
            </a:r>
            <a:r>
              <a:rPr lang="en-US" b="1" dirty="0"/>
              <a:t>:</a:t>
            </a:r>
            <a:r>
              <a:rPr lang="en-US" dirty="0"/>
              <a:t> Unstructured operational reports exported as HTML files.</a:t>
            </a:r>
          </a:p>
          <a:p>
            <a:r>
              <a:rPr lang="en-US" dirty="0"/>
              <a:t>Extraction &amp; Transformation (Key Technical Differentiator):</a:t>
            </a:r>
            <a:br>
              <a:rPr lang="en-US" dirty="0"/>
            </a:br>
            <a:r>
              <a:rPr lang="en-US" dirty="0"/>
              <a:t>Python (Pandas) was used to parse HTML tables, cleanse inconsistencies, and convert the data into a structured format.</a:t>
            </a:r>
          </a:p>
          <a:p>
            <a:r>
              <a:rPr lang="en-US" dirty="0"/>
              <a:t>Storage &amp; Loading:</a:t>
            </a:r>
            <a:br>
              <a:rPr lang="en-US" dirty="0"/>
            </a:br>
            <a:r>
              <a:rPr lang="en-US" dirty="0"/>
              <a:t>The cleaned dataset was saved as Excel files and then imported into the BI tool for data modeling and visualization.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</a:t>
            </a:r>
            <a:r>
              <a:rPr lang="en-US" sz="1600" b="1" dirty="0"/>
              <a:t>. Data Model (Schema &amp; Entities)</a:t>
            </a:r>
          </a:p>
          <a:p>
            <a:r>
              <a:rPr lang="en-US" dirty="0"/>
              <a:t>Model Type</a:t>
            </a:r>
            <a:r>
              <a:rPr lang="en-US" b="1" dirty="0"/>
              <a:t>:</a:t>
            </a:r>
            <a:r>
              <a:rPr lang="en-US" dirty="0"/>
              <a:t> Star Schema optimized for high-performance analytics.</a:t>
            </a:r>
          </a:p>
          <a:p>
            <a:r>
              <a:rPr lang="en-US" dirty="0"/>
              <a:t>Fact Tables</a:t>
            </a:r>
            <a:r>
              <a:rPr lang="en-US" b="1" dirty="0"/>
              <a:t>:</a:t>
            </a:r>
            <a:r>
              <a:rPr lang="en-US" dirty="0"/>
              <a:t> Sales and Purchases (containing all measurable metrics).</a:t>
            </a:r>
          </a:p>
          <a:p>
            <a:r>
              <a:rPr lang="en-US" dirty="0"/>
              <a:t>Dimension Tables</a:t>
            </a:r>
            <a:r>
              <a:rPr lang="en-US" b="1" dirty="0"/>
              <a:t>:</a:t>
            </a:r>
            <a:r>
              <a:rPr lang="en-US" dirty="0"/>
              <a:t> Items, Vendors, and Calendar (supporting slicing, filtering, and detailed drill-down).</a:t>
            </a:r>
          </a:p>
          <a:p>
            <a:r>
              <a:rPr lang="en-US" dirty="0"/>
              <a:t>Relationships</a:t>
            </a:r>
            <a:r>
              <a:rPr lang="en-US" b="1" dirty="0"/>
              <a:t>:</a:t>
            </a:r>
            <a:r>
              <a:rPr lang="en-US" dirty="0"/>
              <a:t> One-to-Many (1:*) relationships connecting Fact and Dimension tables using keys such as Product Barcode and Transaction Dates.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406401"/>
            <a:ext cx="9144000" cy="119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000" dirty="0"/>
              <a:t>Using Python to Turn HTML Files Into Excel Sheets</a:t>
            </a:r>
            <a:endParaRPr sz="4000" dirty="0"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65" name="Google Shape;165;p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68459B-75A1-42FD-A037-62A2313CB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56" y="1844562"/>
            <a:ext cx="5792240" cy="3656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C2FA79-DB98-E98E-53B1-F0B0DE8E0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704" y="1844562"/>
            <a:ext cx="5792240" cy="3656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2384518" y="501649"/>
            <a:ext cx="6477000" cy="1138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US" dirty="0"/>
              <a:t>Data Modeling: Star Schema</a:t>
            </a:r>
            <a:endParaRPr dirty="0"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>
          <a:blip r:embed="rId3"/>
          <a:srcRect l="3292" r="3292"/>
          <a:stretch/>
        </p:blipFill>
        <p:spPr>
          <a:xfrm>
            <a:off x="275119" y="1993267"/>
            <a:ext cx="4218798" cy="28714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196" name="Google Shape;196;p9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9F5306-71A7-A628-8BDA-6B202C6DE015}"/>
              </a:ext>
            </a:extLst>
          </p:cNvPr>
          <p:cNvSpPr txBox="1"/>
          <p:nvPr/>
        </p:nvSpPr>
        <p:spPr>
          <a:xfrm>
            <a:off x="4792854" y="1836284"/>
            <a:ext cx="68911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Project uses a Star Schema for efficient BI reporting and fast analytics.</a:t>
            </a:r>
            <a:r>
              <a:rPr lang="en-US" dirty="0"/>
              <a:t>	</a:t>
            </a:r>
          </a:p>
          <a:p>
            <a:r>
              <a:rPr lang="en-US" sz="1600" b="1" dirty="0"/>
              <a:t>1.Fact Tables </a:t>
            </a:r>
            <a:r>
              <a:rPr lang="en-US" sz="1600" dirty="0"/>
              <a:t>(Metrics)  Contain transactional data:	</a:t>
            </a:r>
          </a:p>
          <a:p>
            <a:r>
              <a:rPr lang="en-US" sz="1600" dirty="0"/>
              <a:t>•Sales: transaction value, quantity, discount	</a:t>
            </a:r>
          </a:p>
          <a:p>
            <a:r>
              <a:rPr lang="en-US" sz="1600" dirty="0"/>
              <a:t>•Purchases: procurement costs and details	</a:t>
            </a:r>
          </a:p>
          <a:p>
            <a:r>
              <a:rPr lang="en-US" sz="1600" dirty="0"/>
              <a:t>•Vendors Account (Ledger): supplier payments and balances	</a:t>
            </a:r>
          </a:p>
          <a:p>
            <a:r>
              <a:rPr lang="en-US" sz="1600" b="1" dirty="0"/>
              <a:t>2.Dimension Tables </a:t>
            </a:r>
            <a:r>
              <a:rPr lang="en-US" sz="1600" dirty="0"/>
              <a:t>(Context)  Provide descriptive details:</a:t>
            </a:r>
          </a:p>
          <a:p>
            <a:r>
              <a:rPr lang="en-US" sz="1600" dirty="0"/>
              <a:t>•Item: product details (size, color, category)	</a:t>
            </a:r>
          </a:p>
          <a:p>
            <a:r>
              <a:rPr lang="en-US" sz="1600" dirty="0"/>
              <a:t>•Vendors: supplier information	</a:t>
            </a:r>
          </a:p>
          <a:p>
            <a:r>
              <a:rPr lang="en-US" sz="1600" dirty="0"/>
              <a:t>•Calendar: time dimension for trend analysis	</a:t>
            </a:r>
          </a:p>
          <a:p>
            <a:r>
              <a:rPr lang="en-US" sz="1600" b="1" dirty="0"/>
              <a:t>3.Calculated Measures </a:t>
            </a:r>
            <a:r>
              <a:rPr lang="en-US" sz="1600" dirty="0"/>
              <a:t>(DAX Layer) Stores KPIs like Net Profit and Net Sales for consistent 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55" name="Google Shape;155;p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F3BDD4-76C4-6684-A013-34D79B8329F8}"/>
              </a:ext>
            </a:extLst>
          </p:cNvPr>
          <p:cNvSpPr txBox="1"/>
          <p:nvPr/>
        </p:nvSpPr>
        <p:spPr>
          <a:xfrm>
            <a:off x="359764" y="1243786"/>
            <a:ext cx="671559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Conclusion: Strategic Insights &amp; Recommendations</a:t>
            </a:r>
          </a:p>
          <a:p>
            <a:pPr marL="342900" indent="-342900">
              <a:buAutoNum type="arabicPeriod"/>
            </a:pPr>
            <a:r>
              <a:rPr lang="en-US" sz="2000" b="1" dirty="0"/>
              <a:t>Key Findings and Observations</a:t>
            </a:r>
          </a:p>
          <a:p>
            <a:r>
              <a:rPr lang="en-US" sz="1800" dirty="0"/>
              <a:t>• Strong Profitability: Net Sales are $3.17M with Gross Profit at $2.52M, indicating an exceptionally high-profit margin and effective cost control.</a:t>
            </a:r>
          </a:p>
          <a:p>
            <a:r>
              <a:rPr lang="en-US" sz="1800" dirty="0"/>
              <a:t>• The Dominant Product: The "Boxer Design" item is the clear leader across the board, topping both Net Sales and Purchases Volume. This product is the core revenue driver</a:t>
            </a:r>
          </a:p>
          <a:p>
            <a:r>
              <a:rPr lang="en-US" sz="1800" dirty="0"/>
              <a:t>.• Volatile Trends: The monthly Sales/Profit trend shows significant volatility that needs further investigation (e.g., seasonality vs. supply chain issues)</a:t>
            </a:r>
          </a:p>
          <a:p>
            <a:r>
              <a:rPr lang="en-US" sz="1800" dirty="0"/>
              <a:t>.• Inventory Efficiency: Purchases value ($653.77K) is low relative to profit, suggesting tight inventory management or a highly successful sales strategy.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A8663-6B27-E857-C814-14B1B29CC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10" y="1781855"/>
            <a:ext cx="5114817" cy="32942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18" name="Google Shape;218;p1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DCD930-E419-8FD3-A74C-4F21CF2F0C1E}"/>
              </a:ext>
            </a:extLst>
          </p:cNvPr>
          <p:cNvSpPr txBox="1"/>
          <p:nvPr/>
        </p:nvSpPr>
        <p:spPr>
          <a:xfrm>
            <a:off x="212984" y="1169232"/>
            <a:ext cx="744698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2. Strategic Recommendations (Actionable Solutions)</a:t>
            </a:r>
          </a:p>
          <a:p>
            <a:r>
              <a:rPr lang="en-US" sz="1800" dirty="0"/>
              <a:t>• Product Bundling Strategy (Sales/Marketing): Action: Leverage the dominance of "Boxer Design" by bundling it with lower-performing items (e e.g., Pajamas) to increase Average Order Value (AOV) and diversify sales.</a:t>
            </a:r>
          </a:p>
          <a:p>
            <a:r>
              <a:rPr lang="en-US" sz="1800" dirty="0"/>
              <a:t>• Supplier Cost Reduction (Purchasing/Finance): Action: Initiate immediate re-negotiation with key suppliers for "Boxer Design" to secure volume discounts, aiming to reduce the average unit purchase price of 23.65.</a:t>
            </a:r>
          </a:p>
          <a:p>
            <a:r>
              <a:rPr lang="en-US" sz="1800" dirty="0"/>
              <a:t>• Risk Mitigation &amp; Diversification (Executive/Planning): Action: Allocate targeted marketing spend to the second and third best-selling items to reduce the company’s dependency risk on a single product.</a:t>
            </a:r>
          </a:p>
          <a:p>
            <a:r>
              <a:rPr lang="en-US" sz="1800" dirty="0"/>
              <a:t>• Investigate Time Fluctuations (Management): Action: Use the interactive dashboard to deep-dive into monthly variances to differentiate between predictable seasonality and correctable operational bottlenecks.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9A8155-8A1D-5B4D-3690-86D0A342B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039" y="3630136"/>
            <a:ext cx="4001975" cy="25937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EE5992-9928-4222-7FBB-319B18FE5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038" y="1009364"/>
            <a:ext cx="4001976" cy="25545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326052" y="456495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326051" y="331414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7326052" y="1758532"/>
            <a:ext cx="4196424" cy="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2400" dirty="0">
                <a:solidFill>
                  <a:schemeClr val="lt1"/>
                </a:solidFill>
              </a:rPr>
              <a:t>Yousef Ahmed Sobhy</a:t>
            </a:r>
            <a:endParaRPr sz="2400" dirty="0">
              <a:solidFill>
                <a:schemeClr val="lt1"/>
              </a:solidFill>
            </a:endParaRPr>
          </a:p>
        </p:txBody>
      </p:sp>
      <p:pic>
        <p:nvPicPr>
          <p:cNvPr id="209" name="Google Shape;209;p1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6;p10">
            <a:extLst>
              <a:ext uri="{FF2B5EF4-FFF2-40B4-BE49-F238E27FC236}">
                <a16:creationId xmlns:a16="http://schemas.microsoft.com/office/drawing/2014/main" id="{27D1C3B4-C504-BF35-8B3E-6DB028B049A1}"/>
              </a:ext>
            </a:extLst>
          </p:cNvPr>
          <p:cNvSpPr/>
          <p:nvPr/>
        </p:nvSpPr>
        <p:spPr>
          <a:xfrm>
            <a:off x="669525" y="1752461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06;p10">
            <a:extLst>
              <a:ext uri="{FF2B5EF4-FFF2-40B4-BE49-F238E27FC236}">
                <a16:creationId xmlns:a16="http://schemas.microsoft.com/office/drawing/2014/main" id="{BEEA7D36-7AC6-560C-E453-BF3EC8F49796}"/>
              </a:ext>
            </a:extLst>
          </p:cNvPr>
          <p:cNvSpPr/>
          <p:nvPr/>
        </p:nvSpPr>
        <p:spPr>
          <a:xfrm>
            <a:off x="669525" y="469199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10">
            <a:extLst>
              <a:ext uri="{FF2B5EF4-FFF2-40B4-BE49-F238E27FC236}">
                <a16:creationId xmlns:a16="http://schemas.microsoft.com/office/drawing/2014/main" id="{CEBB1EE3-B8DD-1B98-F0E0-08F646877F37}"/>
              </a:ext>
            </a:extLst>
          </p:cNvPr>
          <p:cNvSpPr/>
          <p:nvPr/>
        </p:nvSpPr>
        <p:spPr>
          <a:xfrm>
            <a:off x="669525" y="331414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61B5B-44CC-53E1-4D7D-F6C181FF927D}"/>
              </a:ext>
            </a:extLst>
          </p:cNvPr>
          <p:cNvSpPr txBox="1"/>
          <p:nvPr/>
        </p:nvSpPr>
        <p:spPr>
          <a:xfrm>
            <a:off x="1134116" y="1755957"/>
            <a:ext cx="30620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Mohamed Alaa Galal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Team Leader</a:t>
            </a:r>
          </a:p>
        </p:txBody>
      </p:sp>
      <p:sp>
        <p:nvSpPr>
          <p:cNvPr id="7" name="Google Shape;206;p10">
            <a:extLst>
              <a:ext uri="{FF2B5EF4-FFF2-40B4-BE49-F238E27FC236}">
                <a16:creationId xmlns:a16="http://schemas.microsoft.com/office/drawing/2014/main" id="{BBFA2382-6664-F252-6C5E-7A37538FC2C4}"/>
              </a:ext>
            </a:extLst>
          </p:cNvPr>
          <p:cNvSpPr/>
          <p:nvPr/>
        </p:nvSpPr>
        <p:spPr>
          <a:xfrm>
            <a:off x="7326051" y="1765789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1589E-75BF-8CB8-C8F3-03F0597E567A}"/>
              </a:ext>
            </a:extLst>
          </p:cNvPr>
          <p:cNvSpPr txBox="1"/>
          <p:nvPr/>
        </p:nvSpPr>
        <p:spPr>
          <a:xfrm>
            <a:off x="7826134" y="1758532"/>
            <a:ext cx="31630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Yousef Ahmed Sobhy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Data Visualization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8129FA-5A45-2BDE-C732-137714402C9D}"/>
              </a:ext>
            </a:extLst>
          </p:cNvPr>
          <p:cNvSpPr txBox="1"/>
          <p:nvPr/>
        </p:nvSpPr>
        <p:spPr>
          <a:xfrm>
            <a:off x="1296820" y="3314143"/>
            <a:ext cx="29418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Elham Adel Elsayed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Data Preprocessing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AE8ED-E06D-58B9-E939-C4E225F80E2A}"/>
              </a:ext>
            </a:extLst>
          </p:cNvPr>
          <p:cNvSpPr txBox="1"/>
          <p:nvPr/>
        </p:nvSpPr>
        <p:spPr>
          <a:xfrm>
            <a:off x="7612132" y="3328173"/>
            <a:ext cx="35910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Tasneem Hazem Zahran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Data Modeling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911275-C7FE-BD5C-7089-3745C8AC13E3}"/>
              </a:ext>
            </a:extLst>
          </p:cNvPr>
          <p:cNvSpPr txBox="1"/>
          <p:nvPr/>
        </p:nvSpPr>
        <p:spPr>
          <a:xfrm>
            <a:off x="1134115" y="4695898"/>
            <a:ext cx="32672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Yousef Magdi Shalaby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Dax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B48BBC-B1BF-F101-0DF1-739C4BCF8621}"/>
              </a:ext>
            </a:extLst>
          </p:cNvPr>
          <p:cNvSpPr txBox="1"/>
          <p:nvPr/>
        </p:nvSpPr>
        <p:spPr>
          <a:xfrm>
            <a:off x="7457218" y="4547019"/>
            <a:ext cx="3934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Mohamed Mahmoud Morsy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Coding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1B3BA7-2D0B-9CE3-6528-AF86B936B4A8}"/>
              </a:ext>
            </a:extLst>
          </p:cNvPr>
          <p:cNvSpPr txBox="1"/>
          <p:nvPr/>
        </p:nvSpPr>
        <p:spPr>
          <a:xfrm>
            <a:off x="3711158" y="639379"/>
            <a:ext cx="4442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Project Team Members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4359728" y="3017892"/>
            <a:ext cx="3472543" cy="822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4800" b="1" dirty="0"/>
              <a:t>Thank You</a:t>
            </a:r>
            <a:endParaRPr sz="4800" b="1" dirty="0"/>
          </a:p>
        </p:txBody>
      </p:sp>
      <p:pic>
        <p:nvPicPr>
          <p:cNvPr id="140" name="Google Shape;140;p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1061</Words>
  <Application>Microsoft Office PowerPoint</Application>
  <PresentationFormat>Widescreen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Data Architecture &amp; Technical Workflow </vt:lpstr>
      <vt:lpstr>Using Python to Turn HTML Files Into Excel Sheets</vt:lpstr>
      <vt:lpstr>Data Modeling: Star Schema</vt:lpstr>
      <vt:lpstr>PowerPoint Presentation</vt:lpstr>
      <vt:lpstr>PowerPoint Presentation</vt:lpstr>
      <vt:lpstr>Yousef Ahmed Sobhy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Tasneem Hazem</cp:lastModifiedBy>
  <cp:revision>2</cp:revision>
  <dcterms:created xsi:type="dcterms:W3CDTF">2024-03-14T10:03:54Z</dcterms:created>
  <dcterms:modified xsi:type="dcterms:W3CDTF">2025-11-29T23:46:33Z</dcterms:modified>
</cp:coreProperties>
</file>